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6354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Ime </a:t>
            </a:r>
            <a:r>
              <a:rPr lang="en-US" dirty="0" err="1"/>
              <a:t>Prezime</a:t>
            </a:r>
            <a:endParaRPr lang="en-US" dirty="0"/>
          </a:p>
          <a:p>
            <a:r>
              <a:rPr lang="en-US" dirty="0" err="1"/>
              <a:t>Predstavljam</a:t>
            </a:r>
            <a:r>
              <a:rPr lang="en-US" dirty="0"/>
              <a:t> </a:t>
            </a:r>
            <a:r>
              <a:rPr lang="en-US" dirty="0" err="1"/>
              <a:t>završni</a:t>
            </a:r>
            <a:r>
              <a:rPr lang="en-US" dirty="0"/>
              <a:t> rad</a:t>
            </a:r>
          </a:p>
          <a:p>
            <a:r>
              <a:rPr lang="en-US" dirty="0" err="1"/>
              <a:t>Motivacija</a:t>
            </a:r>
            <a:r>
              <a:rPr lang="en-US" dirty="0"/>
              <a:t>, </a:t>
            </a:r>
            <a:r>
              <a:rPr lang="en-US" dirty="0" err="1"/>
              <a:t>prije</a:t>
            </a:r>
            <a:r>
              <a:rPr lang="en-US" dirty="0"/>
              <a:t> 2/3 </a:t>
            </a:r>
            <a:r>
              <a:rPr lang="en-US" dirty="0" err="1"/>
              <a:t>godine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Vrijeme</a:t>
            </a:r>
            <a:r>
              <a:rPr lang="en-US" dirty="0"/>
              <a:t> online</a:t>
            </a:r>
          </a:p>
          <a:p>
            <a:r>
              <a:rPr lang="en-US" dirty="0" err="1"/>
              <a:t>Anketa</a:t>
            </a:r>
            <a:r>
              <a:rPr lang="en-US" dirty="0"/>
              <a:t> google </a:t>
            </a:r>
            <a:r>
              <a:rPr lang="en-US" dirty="0" err="1"/>
              <a:t>forme</a:t>
            </a:r>
            <a:r>
              <a:rPr lang="en-US" dirty="0"/>
              <a:t>, </a:t>
            </a:r>
            <a:r>
              <a:rPr lang="en-US" dirty="0" err="1"/>
              <a:t>whatsapp</a:t>
            </a:r>
            <a:r>
              <a:rPr lang="en-US" dirty="0"/>
              <a:t>, mail</a:t>
            </a:r>
          </a:p>
          <a:p>
            <a:r>
              <a:rPr lang="en-US" dirty="0"/>
              <a:t>61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9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3240" y="1150739"/>
            <a:ext cx="7597521" cy="1814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Razvoj programskog rješenja</a:t>
            </a:r>
            <a:endParaRPr lang="en-US" sz="4200" dirty="0"/>
          </a:p>
          <a:p>
            <a:pPr marL="0" indent="0" algn="ctr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 organiziranje smještaja studenata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73240" y="2903339"/>
            <a:ext cx="759752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AccommodationApp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73240" y="3528120"/>
            <a:ext cx="7597521" cy="795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Marko Kovačević</a:t>
            </a:r>
            <a:endParaRPr lang="en-US" sz="1200" dirty="0"/>
          </a:p>
          <a:p>
            <a:pPr marL="0" indent="0" algn="ctr">
              <a:lnSpc>
                <a:spcPts val="1680"/>
              </a:lnSpc>
              <a:spcBef>
                <a:spcPts val="24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Sveučilište Algebra Bernays • Siječanj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28600" y="762000"/>
            <a:ext cx="4248150" cy="3867150"/>
          </a:xfrm>
          <a:prstGeom prst="roundRect">
            <a:avLst>
              <a:gd name="adj" fmla="val 197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952500"/>
            <a:ext cx="3944493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Ključni izazovi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19100" y="1272480"/>
            <a:ext cx="3867150" cy="14478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95,1% studenata</a:t>
            </a:r>
            <a:r>
              <a:rPr lang="en-US" sz="13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studira izvan matičnog grada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88,5%</a:t>
            </a:r>
            <a:r>
              <a:rPr lang="en-US" sz="13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treba više od tjedan dana za pronalaženje smještaja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29,5%</a:t>
            </a:r>
            <a:r>
              <a:rPr lang="en-US" sz="13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treba više od mjesec dana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r>
              <a:rPr lang="en-US" sz="13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smatra cijene prevelikim problemom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29150" y="762000"/>
            <a:ext cx="4286250" cy="3867150"/>
          </a:xfrm>
          <a:prstGeom prst="roundRect">
            <a:avLst>
              <a:gd name="adj" fmla="val 1970"/>
            </a:avLst>
          </a:prstGeom>
          <a:solidFill>
            <a:srgbClr val="FF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648200" y="762000"/>
            <a:ext cx="0" cy="3867150"/>
          </a:xfrm>
          <a:prstGeom prst="line">
            <a:avLst/>
          </a:prstGeom>
          <a:noFill/>
          <a:ln w="381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8" name="Text 6"/>
          <p:cNvSpPr/>
          <p:nvPr/>
        </p:nvSpPr>
        <p:spPr>
          <a:xfrm>
            <a:off x="4857750" y="952500"/>
            <a:ext cx="3944493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Dodatni problemi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857750" y="1272480"/>
            <a:ext cx="3867150" cy="17145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Fragmentarnost informacija - Facebook, Njuškalo, direktni kontakt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Nedostatak transparentnosti u cijenama i kvaliteti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Neažurirani oglasi i lažne ponude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Udaljenost od fakulteta kao velika prepreka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28600" y="47815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Rezultati ankete provedene na uzorku od 61 studenta, listopad 2024.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Dosadašnja rješenja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28600" y="762000"/>
            <a:ext cx="2819400" cy="133350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1000" y="914400"/>
            <a:ext cx="25648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Njuškalo (62,3%)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1000" y="1173361"/>
            <a:ext cx="25648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Široka ponuda, ali bez filtera relevantnih za studente. Nije optimiziran za mobilne uređaje.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3162300" y="762000"/>
            <a:ext cx="2819400" cy="133350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14700" y="914400"/>
            <a:ext cx="25648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 grupe (59%)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14700" y="1173361"/>
            <a:ext cx="25648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Popularan pristup, ali kaotičan. Nema strukture i nemoguće je verificirati oglašivače.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096000" y="762000"/>
            <a:ext cx="2819400" cy="133350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48400" y="914400"/>
            <a:ext cx="2564892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Booking/Airbnb (8,2%)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48400" y="1173361"/>
            <a:ext cx="25648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Fokus na kratkoročni turistički najam. Cijene premašuju studentski budžet.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28600" y="2209800"/>
            <a:ext cx="8686800" cy="1127522"/>
          </a:xfrm>
          <a:prstGeom prst="roundRect">
            <a:avLst>
              <a:gd name="adj" fmla="val 6758"/>
            </a:avLst>
          </a:prstGeom>
          <a:solidFill>
            <a:srgbClr val="263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19100" y="2400300"/>
            <a:ext cx="8471916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Zaključak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9100" y="2720280"/>
            <a:ext cx="847191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Postojeće platforme nisu prilagođene specifičnim potrebama studentske populacije. Nedostaje </a:t>
            </a:r>
            <a:r>
              <a:rPr lang="en-US" sz="1050" b="1" dirty="0">
                <a:solidFill>
                  <a:srgbClr val="FF6B6B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centralizirano rješenje</a:t>
            </a: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 filtrima po blizini fakulteta, studentskim budžetom i dostupnosti tijekom akademske godine.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28600" y="47815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Postoci predstavljaju udio studenata koji </a:t>
            </a:r>
            <a:r>
              <a:rPr lang="en-US" sz="7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koriste</a:t>
            </a:r>
            <a:r>
              <a:rPr lang="en-US" sz="7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navedene</a:t>
            </a:r>
            <a:r>
              <a:rPr lang="en-US" sz="7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7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platforme</a:t>
            </a:r>
            <a:r>
              <a:rPr lang="en-US" sz="7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7024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Predloženo rješenje - AccommodationApp</a:t>
            </a:r>
            <a:endParaRPr lang="en-US" sz="2700" dirty="0"/>
          </a:p>
        </p:txBody>
      </p:sp>
      <p:pic>
        <p:nvPicPr>
          <p:cNvPr id="3" name="Image 0" descr="/tmp/rasterized-gradient-3589dc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23900"/>
            <a:ext cx="4777680" cy="7369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876300"/>
            <a:ext cx="4562338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🗺️ Google Maps integracija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81000" y="1135261"/>
            <a:ext cx="4562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Vizualni prikaz lokacija i filtriranje prema udaljenosti od fakulteta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228600" y="1575197"/>
            <a:ext cx="4777680" cy="736997"/>
          </a:xfrm>
          <a:prstGeom prst="roundRect">
            <a:avLst>
              <a:gd name="adj" fmla="val 1033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247650" y="1575197"/>
            <a:ext cx="0" cy="736997"/>
          </a:xfrm>
          <a:prstGeom prst="line">
            <a:avLst/>
          </a:prstGeom>
          <a:noFill/>
          <a:ln w="381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8" name="Text 5"/>
          <p:cNvSpPr/>
          <p:nvPr/>
        </p:nvSpPr>
        <p:spPr>
          <a:xfrm>
            <a:off x="419100" y="1727597"/>
            <a:ext cx="45234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Upravljanje oglasima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9100" y="1986558"/>
            <a:ext cx="4523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Vlasnici mogu dodavati, uređivati i pratiti statistiku svojih nekretnina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228600" y="2426494"/>
            <a:ext cx="4777680" cy="736997"/>
          </a:xfrm>
          <a:prstGeom prst="roundRect">
            <a:avLst>
              <a:gd name="adj" fmla="val 1033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247650" y="2426494"/>
            <a:ext cx="0" cy="736997"/>
          </a:xfrm>
          <a:prstGeom prst="line">
            <a:avLst/>
          </a:prstGeom>
          <a:noFill/>
          <a:ln w="381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2" name="Text 9"/>
          <p:cNvSpPr/>
          <p:nvPr/>
        </p:nvSpPr>
        <p:spPr>
          <a:xfrm>
            <a:off x="419100" y="2578894"/>
            <a:ext cx="45234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Direktna rezervacija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9100" y="2837855"/>
            <a:ext cx="4523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Kalendarski sustav s praćenjem statusa rezervacija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228600" y="3277791"/>
            <a:ext cx="4777680" cy="736997"/>
          </a:xfrm>
          <a:prstGeom prst="roundRect">
            <a:avLst>
              <a:gd name="adj" fmla="val 1033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247650" y="3277791"/>
            <a:ext cx="0" cy="736997"/>
          </a:xfrm>
          <a:prstGeom prst="line">
            <a:avLst/>
          </a:prstGeom>
          <a:noFill/>
          <a:ln w="381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6" name="Text 13"/>
          <p:cNvSpPr/>
          <p:nvPr/>
        </p:nvSpPr>
        <p:spPr>
          <a:xfrm>
            <a:off x="419100" y="3430191"/>
            <a:ext cx="452347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Sustav recenzija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9100" y="3689152"/>
            <a:ext cx="452347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975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Transparentnost kroz povratne informacije bivših stanara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5158680" y="723900"/>
            <a:ext cx="3908971" cy="3905250"/>
          </a:xfrm>
          <a:prstGeom prst="roundRect">
            <a:avLst>
              <a:gd name="adj" fmla="val 1951"/>
            </a:avLst>
          </a:prstGeom>
          <a:solidFill>
            <a:srgbClr val="FFF6F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349180" y="914400"/>
            <a:ext cx="3598530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spcAft>
                <a:spcPts val="1200"/>
              </a:spcAft>
              <a:buNone/>
            </a:pPr>
            <a:r>
              <a:rPr lang="en-US" sz="1350" b="1" dirty="0" err="1">
                <a:solidFill>
                  <a:srgbClr val="263238"/>
                </a:solidFill>
                <a:latin typeface="Arial" pitchFamily="34" charset="0"/>
                <a:cs typeface="Arial" pitchFamily="34" charset="-120"/>
              </a:rPr>
              <a:t>Dodatne</a:t>
            </a:r>
            <a:r>
              <a:rPr lang="en-US" sz="1350" b="1" dirty="0">
                <a:solidFill>
                  <a:srgbClr val="263238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350" b="1" dirty="0" err="1">
                <a:solidFill>
                  <a:srgbClr val="263238"/>
                </a:solidFill>
                <a:latin typeface="Arial" pitchFamily="34" charset="0"/>
                <a:cs typeface="Arial" pitchFamily="34" charset="-120"/>
              </a:rPr>
              <a:t>funkcionalnosti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349180" y="1272480"/>
            <a:ext cx="3527971" cy="14859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Centralizacija svih informacija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Filtri prilagođeni studentima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Transparentnost cijena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Sigurnost</a:t>
            </a:r>
            <a:r>
              <a:rPr lang="en-US" sz="13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podataka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Mobilna optimizacija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349180" y="2948880"/>
            <a:ext cx="3527971" cy="439936"/>
          </a:xfrm>
          <a:prstGeom prst="roundRect">
            <a:avLst>
              <a:gd name="adj" fmla="val 12991"/>
            </a:avLst>
          </a:prstGeom>
          <a:solidFill>
            <a:srgbClr val="FFFFFF"/>
          </a:solidFill>
          <a:ln w="19050">
            <a:solidFill>
              <a:srgbClr val="FF6B6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449918" y="3082230"/>
            <a:ext cx="332649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72,1% studenata izrazilo interes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Korištene tehnologije</a:t>
            </a:r>
            <a:endParaRPr lang="en-US" sz="3000" dirty="0"/>
          </a:p>
        </p:txBody>
      </p:sp>
      <p:pic>
        <p:nvPicPr>
          <p:cNvPr id="3" name="Image 0" descr="/tmp/rasterized-gradient-5fc918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62000"/>
            <a:ext cx="2793950" cy="1905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9100" y="952500"/>
            <a:ext cx="24612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419100" y="1276350"/>
            <a:ext cx="2461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Primarni programski jezik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419100" y="1563886"/>
            <a:ext cx="2412950" cy="912614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Null-safety mehanizmi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Konciznija sintaksa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Coroutines</a:t>
            </a:r>
            <a:endParaRPr lang="en-US" sz="1350" dirty="0"/>
          </a:p>
        </p:txBody>
      </p:sp>
      <p:pic>
        <p:nvPicPr>
          <p:cNvPr id="7" name="Image 1" descr="/tmp/rasterized-gradient-66a5ac5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4950" y="762000"/>
            <a:ext cx="2793950" cy="1905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365450" y="952500"/>
            <a:ext cx="24612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Jetpack Compose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365450" y="1276350"/>
            <a:ext cx="2461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 UI toolkit</a:t>
            </a:r>
            <a:endParaRPr lang="en-US" sz="975" dirty="0"/>
          </a:p>
        </p:txBody>
      </p:sp>
      <p:sp>
        <p:nvSpPr>
          <p:cNvPr id="10" name="Text 6"/>
          <p:cNvSpPr/>
          <p:nvPr/>
        </p:nvSpPr>
        <p:spPr>
          <a:xfrm>
            <a:off x="3365450" y="1563886"/>
            <a:ext cx="2412950" cy="912614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Deklarativni UI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Automatsko osvježavanje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funkcija</a:t>
            </a:r>
            <a:endParaRPr lang="en-US" sz="1350" dirty="0"/>
          </a:p>
        </p:txBody>
      </p:sp>
      <p:pic>
        <p:nvPicPr>
          <p:cNvPr id="11" name="Image 2" descr="/tmp/rasterized-gradient-d4621ed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1301" y="762000"/>
            <a:ext cx="2793950" cy="1905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11801" y="952500"/>
            <a:ext cx="24612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311801" y="1276350"/>
            <a:ext cx="246120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900"/>
              </a:spcAft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platforma</a:t>
            </a:r>
            <a:endParaRPr lang="en-US" sz="975" dirty="0"/>
          </a:p>
        </p:txBody>
      </p:sp>
      <p:sp>
        <p:nvSpPr>
          <p:cNvPr id="14" name="Text 9"/>
          <p:cNvSpPr/>
          <p:nvPr/>
        </p:nvSpPr>
        <p:spPr>
          <a:xfrm>
            <a:off x="6311801" y="1563886"/>
            <a:ext cx="2412950" cy="912614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auth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228600" y="2800350"/>
            <a:ext cx="2819400" cy="66675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342900" y="2914650"/>
            <a:ext cx="264261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API</a:t>
            </a:r>
            <a:endParaRPr lang="en-US" sz="975" dirty="0"/>
          </a:p>
        </p:txBody>
      </p:sp>
      <p:sp>
        <p:nvSpPr>
          <p:cNvPr id="17" name="Text 12"/>
          <p:cNvSpPr/>
          <p:nvPr/>
        </p:nvSpPr>
        <p:spPr>
          <a:xfrm>
            <a:off x="342900" y="3120330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Integracija za prikaz lokacija</a:t>
            </a:r>
            <a:endParaRPr lang="en-US" sz="825" dirty="0"/>
          </a:p>
        </p:txBody>
      </p:sp>
      <p:sp>
        <p:nvSpPr>
          <p:cNvPr id="18" name="Text 13"/>
          <p:cNvSpPr/>
          <p:nvPr/>
        </p:nvSpPr>
        <p:spPr>
          <a:xfrm>
            <a:off x="3162300" y="2800350"/>
            <a:ext cx="2819400" cy="66675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3276600" y="2914650"/>
            <a:ext cx="264261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Design 3</a:t>
            </a:r>
            <a:endParaRPr lang="en-US" sz="975" dirty="0"/>
          </a:p>
        </p:txBody>
      </p:sp>
      <p:sp>
        <p:nvSpPr>
          <p:cNvPr id="20" name="Text 15"/>
          <p:cNvSpPr/>
          <p:nvPr/>
        </p:nvSpPr>
        <p:spPr>
          <a:xfrm>
            <a:off x="3276600" y="3120330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Konzistentno sučelje</a:t>
            </a:r>
            <a:endParaRPr lang="en-US" sz="825" dirty="0"/>
          </a:p>
        </p:txBody>
      </p:sp>
      <p:sp>
        <p:nvSpPr>
          <p:cNvPr id="21" name="Text 16"/>
          <p:cNvSpPr/>
          <p:nvPr/>
        </p:nvSpPr>
        <p:spPr>
          <a:xfrm>
            <a:off x="6096000" y="2800350"/>
            <a:ext cx="2819400" cy="666750"/>
          </a:xfrm>
          <a:prstGeom prst="roundRect">
            <a:avLst>
              <a:gd name="adj" fmla="val 1142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6210300" y="2914650"/>
            <a:ext cx="2642616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Kotlin Serialization</a:t>
            </a:r>
            <a:endParaRPr lang="en-US" sz="975" dirty="0"/>
          </a:p>
        </p:txBody>
      </p:sp>
      <p:sp>
        <p:nvSpPr>
          <p:cNvPr id="23" name="Text 18"/>
          <p:cNvSpPr/>
          <p:nvPr/>
        </p:nvSpPr>
        <p:spPr>
          <a:xfrm>
            <a:off x="6210300" y="3120330"/>
            <a:ext cx="264261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Type-safe serijalizacija</a:t>
            </a:r>
            <a:endParaRPr lang="en-US" sz="825" dirty="0"/>
          </a:p>
        </p:txBody>
      </p:sp>
      <p:sp>
        <p:nvSpPr>
          <p:cNvPr id="24" name="Text 19"/>
          <p:cNvSpPr/>
          <p:nvPr/>
        </p:nvSpPr>
        <p:spPr>
          <a:xfrm>
            <a:off x="228600" y="3600450"/>
            <a:ext cx="8686800" cy="426690"/>
          </a:xfrm>
          <a:prstGeom prst="roundRect">
            <a:avLst>
              <a:gd name="adj" fmla="val 17858"/>
            </a:avLst>
          </a:prstGeom>
          <a:solidFill>
            <a:srgbClr val="263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277749" y="3733800"/>
            <a:ext cx="85885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Kompatibilnost: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Android 7.0+ (SDK 24) • 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SDK 36 • </a:t>
            </a: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Pokrivenost: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95%+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228600" y="4781550"/>
            <a:ext cx="88605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 korištene tehnologije su industrijski standard za Android.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Arhitektura sustava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228600" y="777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MVVM Arhitektura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1257300"/>
            <a:ext cx="301752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5" name="Text 3"/>
          <p:cNvSpPr/>
          <p:nvPr/>
        </p:nvSpPr>
        <p:spPr>
          <a:xfrm>
            <a:off x="320040" y="130302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Compose screens • UI komponente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28600" y="180594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88E5"/>
                </a:solidFill>
              </a:rPr>
              <a:t>↓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2034540"/>
            <a:ext cx="301752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8" name="Text 6"/>
          <p:cNvSpPr/>
          <p:nvPr/>
        </p:nvSpPr>
        <p:spPr>
          <a:xfrm>
            <a:off x="320040" y="208026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 Layer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StateFlow • viewModelScope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258318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9800"/>
                </a:solidFill>
              </a:rPr>
              <a:t>↓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811780"/>
            <a:ext cx="3017520" cy="50292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7C4DFF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1" name="Text 9"/>
          <p:cNvSpPr/>
          <p:nvPr/>
        </p:nvSpPr>
        <p:spPr>
          <a:xfrm>
            <a:off x="320040" y="28575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E35B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Layer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PropertyRepository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3360420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C4DFF"/>
                </a:solidFill>
              </a:rPr>
              <a:t>↓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3589020"/>
            <a:ext cx="3017520" cy="5029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BCD4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4" name="Text 12"/>
          <p:cNvSpPr/>
          <p:nvPr/>
        </p:nvSpPr>
        <p:spPr>
          <a:xfrm>
            <a:off x="320040" y="36347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900" dirty="0"/>
          </a:p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SupabaseClient • PostgreSQL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74720" y="77724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 - ViewModel + Repository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1051560"/>
            <a:ext cx="5212080" cy="3246120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20" name="Text 18"/>
          <p:cNvSpPr/>
          <p:nvPr/>
        </p:nvSpPr>
        <p:spPr>
          <a:xfrm>
            <a:off x="3566160" y="1143000"/>
            <a:ext cx="502920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ViewModel - StateFlow za reaktivno UI stanje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val _uiState = MutableStateFlow(UiState())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uiState: StateFlow&lt;UiState&gt; = _uiState.asStateFlow()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fun loadData()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viewModelScope.launch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 landlords = adminRepository.getAllLandlords()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 amenities = adminRepository.getAllAmenities()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_uiState.value = _uiState.value.copy(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landlords = landlords,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amenities = amenities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Repository - Supabase dohvaćanje podataka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suspend fun getAllProperties(): List&lt;Property&gt; =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withContext(Dispatchers.IO)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supabase.from("properties")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.select() { filter { eq("is_active", true) } 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.decodeList&lt;SimplePropertyDto&gt;()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integracija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777240"/>
            <a:ext cx="2697480" cy="54864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45720" cy="5486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Geocoding API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Pretvorba adrese u GPS koordinate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63240" y="777240"/>
            <a:ext cx="2697480" cy="54864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7" name="Shape 5"/>
          <p:cNvSpPr/>
          <p:nvPr/>
        </p:nvSpPr>
        <p:spPr>
          <a:xfrm>
            <a:off x="3063240" y="777240"/>
            <a:ext cx="45720" cy="5486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8" name="Text 6"/>
          <p:cNvSpPr/>
          <p:nvPr/>
        </p:nvSpPr>
        <p:spPr>
          <a:xfrm>
            <a:off x="3200400" y="868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Prikaz na karti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Vizualizacija dostupnih nekretnina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97880" y="777240"/>
            <a:ext cx="2697480" cy="548640"/>
          </a:xfrm>
          <a:prstGeom prst="round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0" name="Shape 8"/>
          <p:cNvSpPr/>
          <p:nvPr/>
        </p:nvSpPr>
        <p:spPr>
          <a:xfrm>
            <a:off x="5897880" y="777240"/>
            <a:ext cx="45720" cy="548640"/>
          </a:xfrm>
          <a:prstGeom prst="rect">
            <a:avLst/>
          </a:prstGeom>
          <a:solidFill>
            <a:srgbClr val="4CAF50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1" name="Text 9"/>
          <p:cNvSpPr/>
          <p:nvPr/>
        </p:nvSpPr>
        <p:spPr>
          <a:xfrm>
            <a:off x="6035040" y="86868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Filtriranje udaljenosti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Nekretnine u blizini fakulteta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" y="1417320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Implementacija Geocoding API-ja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1691639"/>
            <a:ext cx="4937760" cy="2821577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4" name="Text 12"/>
          <p:cNvSpPr/>
          <p:nvPr/>
        </p:nvSpPr>
        <p:spPr>
          <a:xfrm>
            <a:off x="320040" y="1783080"/>
            <a:ext cx="47548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suspend fun geocodeAddress(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address: String, city: String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Pair&lt;Double, Double&gt;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withContext(Dispatchers.IO)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try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 fullAddress = "$address, $city, Croatia"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 encodedAddress = URLEncoder.encode(fullAddress)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 apiKey = BuildConfig.GOOGLE_MAPS_API_KEY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 url = "https://maps.googleapis.com/maps/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api/geocode/json?address=$encodedAddress"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 response = URL(url).readText()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val jsonObject = JSONObject(response)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(jsonObject.getString("status") == "OK")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 location = jsonObject.getJSONArray("results")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.getJSONObject(0).getJSONObject("geometry")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.getJSONObject("location")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return@withContext Pair(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location.getDouble("lat"),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location.getDouble("lng"))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getCityCoordinatesFallback(city)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catch (e: Exception)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getCityCoordinatesFallback(city)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} }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303520" y="1691640"/>
            <a:ext cx="3566160" cy="2821576"/>
          </a:xfrm>
          <a:prstGeom prst="rect">
            <a:avLst/>
          </a:prstGeom>
          <a:solidFill>
            <a:srgbClr val="263238"/>
          </a:solidFill>
          <a:ln/>
        </p:spPr>
        <p:txBody>
          <a:bodyPr/>
          <a:lstStyle/>
          <a:p>
            <a:endParaRPr lang="hr-HR"/>
          </a:p>
        </p:txBody>
      </p:sp>
      <p:sp>
        <p:nvSpPr>
          <p:cNvPr id="16" name="Text 14"/>
          <p:cNvSpPr/>
          <p:nvPr/>
        </p:nvSpPr>
        <p:spPr>
          <a:xfrm>
            <a:off x="5394960" y="1783080"/>
            <a:ext cx="338328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Fallback za hrvatske gradove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fun getCityCoordinatesFallback(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city: String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Pair&lt;Double, Double&gt;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when(city.lowercase()) {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"zagreb"    -&gt; Pair(45.8150, 15.9819)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"split"     -&gt; Pair(43.5081, 16.4402)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"rijeka"    -&gt; Pair(45.3271, 14.4422)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"osijek"    -&gt; Pair(45.5550, 18.6955)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"zadar"     -&gt; Pair(44.1194, 15.2314)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"pula"      -&gt; Pair(44.8666, 13.8496)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"varaždin"  -&gt; Pair(46.3044, 16.3366)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"dubrovnik" -&gt; Pair(42.6507, 18.0944)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"karlovac"  -&gt; Pair(45.4929, 15.5553)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"sisak"     -&gt; Pair(45.4616, 16.3783)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       -&gt; Pair(45.8150, 15.9819)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ECEF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228600" y="4732020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Geocoding API automatski pretvara adresu u koordinate. Fallback osigurava funkcionalnost za 10 hrvatskih gradova.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88E5"/>
                </a:solidFill>
                <a:latin typeface="Arial"/>
              </a:defRPr>
            </a:pPr>
            <a:r>
              <a:rPr dirty="0"/>
              <a:t>Google Maps u </a:t>
            </a:r>
            <a:r>
              <a:rPr dirty="0" err="1"/>
              <a:t>praksi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74320" y="822960"/>
            <a:ext cx="8595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46E7A"/>
                </a:solidFill>
                <a:latin typeface="Arial"/>
              </a:defRPr>
            </a:pPr>
            <a:r>
              <a:rPr dirty="0" err="1"/>
              <a:t>Prikaz</a:t>
            </a:r>
            <a:r>
              <a:rPr dirty="0"/>
              <a:t> </a:t>
            </a:r>
            <a:r>
              <a:rPr dirty="0" err="1"/>
              <a:t>funkcionalnosti</a:t>
            </a:r>
            <a:r>
              <a:rPr dirty="0"/>
              <a:t> </a:t>
            </a:r>
            <a:r>
              <a:rPr dirty="0" err="1"/>
              <a:t>aplikacije</a:t>
            </a:r>
            <a:endParaRPr dirty="0"/>
          </a:p>
        </p:txBody>
      </p:sp>
      <p:pic>
        <p:nvPicPr>
          <p:cNvPr id="4" name="Picture 3" descr="screenshot1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82880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810397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565C0"/>
                </a:solidFill>
              </a:defRPr>
            </a:pPr>
            <a:r>
              <a:rPr dirty="0" err="1"/>
              <a:t>Detalji</a:t>
            </a:r>
            <a:r>
              <a:rPr dirty="0"/>
              <a:t> </a:t>
            </a:r>
            <a:r>
              <a:rPr dirty="0" err="1"/>
              <a:t>nekretnine</a:t>
            </a:r>
            <a:endParaRPr dirty="0"/>
          </a:p>
        </p:txBody>
      </p:sp>
      <p:pic>
        <p:nvPicPr>
          <p:cNvPr id="6" name="Picture 5" descr="screenshot2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280160"/>
            <a:ext cx="182880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06040" y="4810397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E7D32"/>
                </a:solidFill>
              </a:defRPr>
            </a:pPr>
            <a:r>
              <a:rPr dirty="0" err="1"/>
              <a:t>Filtriranje</a:t>
            </a:r>
            <a:r>
              <a:rPr dirty="0"/>
              <a:t> po </a:t>
            </a:r>
            <a:r>
              <a:rPr dirty="0" err="1"/>
              <a:t>udaljenosti</a:t>
            </a:r>
            <a:endParaRPr dirty="0"/>
          </a:p>
        </p:txBody>
      </p:sp>
      <p:pic>
        <p:nvPicPr>
          <p:cNvPr id="8" name="Picture 7" descr="screenshot3_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280160"/>
            <a:ext cx="1828800" cy="3474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754880" y="4810397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E65100"/>
                </a:solidFill>
              </a:defRPr>
            </a:pPr>
            <a:r>
              <a:rPr dirty="0" err="1"/>
              <a:t>Udaljenost</a:t>
            </a:r>
            <a:r>
              <a:rPr dirty="0"/>
              <a:t> od </a:t>
            </a:r>
            <a:r>
              <a:rPr dirty="0" err="1"/>
              <a:t>fakulteta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6675120" y="13944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63238"/>
                </a:solidFill>
              </a:defRPr>
            </a:pPr>
            <a:r>
              <a:rPr dirty="0" err="1"/>
              <a:t>Ključne</a:t>
            </a:r>
            <a:r>
              <a:rPr dirty="0"/>
              <a:t> </a:t>
            </a:r>
            <a:r>
              <a:rPr dirty="0" err="1"/>
              <a:t>značajke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6675120" y="1805940"/>
            <a:ext cx="14924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37474F"/>
                </a:solidFill>
              </a:defRPr>
            </a:pPr>
            <a:r>
              <a:rPr dirty="0"/>
              <a:t> </a:t>
            </a:r>
            <a:r>
              <a:rPr dirty="0" err="1"/>
              <a:t>Interaktivna</a:t>
            </a:r>
            <a:r>
              <a:rPr dirty="0"/>
              <a:t> </a:t>
            </a:r>
            <a:r>
              <a:rPr dirty="0" err="1"/>
              <a:t>karta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99104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37474F"/>
                </a:solidFill>
              </a:defRPr>
            </a:pPr>
            <a:r>
              <a:rPr dirty="0"/>
              <a:t> </a:t>
            </a:r>
            <a:r>
              <a:rPr lang="en-GB" dirty="0" err="1"/>
              <a:t>Filtriranje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675120" y="2571750"/>
            <a:ext cx="156799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37474F"/>
                </a:solidFill>
              </a:defRPr>
            </a:pPr>
            <a:r>
              <a:rPr dirty="0"/>
              <a:t> </a:t>
            </a:r>
            <a:r>
              <a:rPr dirty="0" err="1"/>
              <a:t>Izračun</a:t>
            </a:r>
            <a:r>
              <a:rPr dirty="0"/>
              <a:t> </a:t>
            </a:r>
            <a:r>
              <a:rPr dirty="0" err="1"/>
              <a:t>udaljenosti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675120" y="2948940"/>
            <a:ext cx="150797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37474F"/>
                </a:solidFill>
              </a:defRPr>
            </a:pPr>
            <a:r>
              <a:rPr dirty="0"/>
              <a:t> </a:t>
            </a:r>
            <a:r>
              <a:rPr dirty="0" err="1"/>
              <a:t>Detalji</a:t>
            </a:r>
            <a:r>
              <a:rPr dirty="0"/>
              <a:t> </a:t>
            </a:r>
            <a:r>
              <a:rPr dirty="0" err="1"/>
              <a:t>nekretnine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6675120" y="3314700"/>
            <a:ext cx="162794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  <a:defRPr sz="1200">
                <a:solidFill>
                  <a:srgbClr val="37474F"/>
                </a:solidFill>
              </a:defRPr>
            </a:pPr>
            <a:r>
              <a:rPr dirty="0"/>
              <a:t> </a:t>
            </a:r>
            <a:r>
              <a:rPr dirty="0" err="1"/>
              <a:t>Direktna</a:t>
            </a:r>
            <a:r>
              <a:rPr dirty="0"/>
              <a:t> </a:t>
            </a:r>
            <a:r>
              <a:rPr dirty="0" err="1"/>
              <a:t>rezervacija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4969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Mogućnosti poboljšanja</a:t>
            </a:r>
            <a:endParaRPr lang="en-US" sz="3000" dirty="0"/>
          </a:p>
        </p:txBody>
      </p:sp>
      <p:pic>
        <p:nvPicPr>
          <p:cNvPr id="3" name="Image 0" descr="/tmp/rasterized-gradient-bef8c9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00980"/>
            <a:ext cx="4286250" cy="133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853380"/>
            <a:ext cx="406107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In-app chat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81000" y="1112341"/>
            <a:ext cx="40610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Direktna komunikacija između studenata i iznajmljivača bez potrebe za vanjskim alatima.</a:t>
            </a:r>
            <a:endParaRPr lang="en-US" sz="900" dirty="0"/>
          </a:p>
        </p:txBody>
      </p:sp>
      <p:pic>
        <p:nvPicPr>
          <p:cNvPr id="6" name="Image 1" descr="/tmp/rasterized-gradient-c6e12e9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150" y="700980"/>
            <a:ext cx="4286250" cy="1333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81550" y="853380"/>
            <a:ext cx="406107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Obavijesti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781550" y="1112341"/>
            <a:ext cx="40610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notifikacije za studente i vlasnike o novim rezervacijama, porukama i oglasima.</a:t>
            </a:r>
            <a:endParaRPr lang="en-US" sz="900" dirty="0"/>
          </a:p>
        </p:txBody>
      </p:sp>
      <p:pic>
        <p:nvPicPr>
          <p:cNvPr id="9" name="Image 2" descr="/tmp/rasterized-gradient-ae9dafb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2148780"/>
            <a:ext cx="4286250" cy="1333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81000" y="2301180"/>
            <a:ext cx="406107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🧭 Navigacija do fakulteta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81000" y="2560141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Integracija Google Maps navigacije za prikaz rute od nekretnine do fakulteta.</a:t>
            </a:r>
            <a:endParaRPr lang="en-US" sz="900" dirty="0"/>
          </a:p>
        </p:txBody>
      </p:sp>
      <p:pic>
        <p:nvPicPr>
          <p:cNvPr id="12" name="Image 3" descr="/tmp/rasterized-gradient-03d9986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150" y="2148780"/>
            <a:ext cx="4286250" cy="1333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81550" y="2301180"/>
            <a:ext cx="4061079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Proširenje tržišta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781550" y="2560141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Podrška za više zemalja i višejezičnost za međunarodne studente.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228600" y="3596580"/>
            <a:ext cx="8686800" cy="1181100"/>
          </a:xfrm>
          <a:prstGeom prst="roundRect">
            <a:avLst>
              <a:gd name="adj" fmla="val 6452"/>
            </a:avLst>
          </a:prstGeom>
          <a:solidFill>
            <a:srgbClr val="263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0"/>
          <p:cNvSpPr/>
          <p:nvPr/>
        </p:nvSpPr>
        <p:spPr>
          <a:xfrm>
            <a:off x="400050" y="3768030"/>
            <a:ext cx="85107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75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Dodatna poboljšanja</a:t>
            </a:r>
            <a:endParaRPr lang="en-US" sz="1125" dirty="0"/>
          </a:p>
        </p:txBody>
      </p:sp>
      <p:sp>
        <p:nvSpPr>
          <p:cNvPr id="17" name="Text 11"/>
          <p:cNvSpPr/>
          <p:nvPr/>
        </p:nvSpPr>
        <p:spPr>
          <a:xfrm>
            <a:off x="400050" y="4034730"/>
            <a:ext cx="4095750" cy="5715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ture nekretnina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Napredna analitika za vlasnike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648200" y="4034730"/>
            <a:ext cx="4095750" cy="5715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Društvene funkcionalnosti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iOS verzija aplikacije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28600"/>
            <a:ext cx="44399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Zaključak</a:t>
            </a:r>
            <a:endParaRPr lang="en-US" sz="3000" dirty="0"/>
          </a:p>
        </p:txBody>
      </p:sp>
      <p:pic>
        <p:nvPicPr>
          <p:cNvPr id="3" name="Image 0" descr="/tmp/rasterized-gradient-b0c928f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62000"/>
            <a:ext cx="8686800" cy="14931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16611" y="933450"/>
            <a:ext cx="8510778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2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Ključna postignuća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73253" y="1253430"/>
            <a:ext cx="273324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73253" y="1737271"/>
            <a:ext cx="273324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Validacija problema kroz</a:t>
            </a:r>
            <a:endParaRPr lang="en-US" sz="975" dirty="0"/>
          </a:p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istraživanje na 61 studentu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3205304" y="1253430"/>
            <a:ext cx="273324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3205304" y="1737271"/>
            <a:ext cx="273324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Funkcionalna Android</a:t>
            </a:r>
            <a:endParaRPr lang="en-US" sz="975" dirty="0"/>
          </a:p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aplikacija s 11 tablica</a:t>
            </a:r>
            <a:endParaRPr lang="en-US" sz="975" dirty="0"/>
          </a:p>
        </p:txBody>
      </p:sp>
      <p:sp>
        <p:nvSpPr>
          <p:cNvPr id="9" name="Text 6"/>
          <p:cNvSpPr/>
          <p:nvPr/>
        </p:nvSpPr>
        <p:spPr>
          <a:xfrm>
            <a:off x="6037354" y="1253430"/>
            <a:ext cx="273324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037354" y="1737271"/>
            <a:ext cx="2733243" cy="346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Moderna arhitektura i</a:t>
            </a:r>
            <a:endParaRPr lang="en-US" sz="975" dirty="0"/>
          </a:p>
          <a:p>
            <a:pPr marL="0" indent="0" algn="ctr">
              <a:lnSpc>
                <a:spcPts val="136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najbolje prakse razvoja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228600" y="2369493"/>
            <a:ext cx="4286250" cy="693390"/>
          </a:xfrm>
          <a:prstGeom prst="roundRect">
            <a:avLst>
              <a:gd name="adj" fmla="val 1098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247650" y="2369493"/>
            <a:ext cx="0" cy="693390"/>
          </a:xfrm>
          <a:prstGeom prst="line">
            <a:avLst/>
          </a:prstGeom>
          <a:noFill/>
          <a:ln w="381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3" name="Text 10"/>
          <p:cNvSpPr/>
          <p:nvPr/>
        </p:nvSpPr>
        <p:spPr>
          <a:xfrm>
            <a:off x="419100" y="2521893"/>
            <a:ext cx="40222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Skraćenje vremena traženja</a:t>
            </a:r>
            <a:endParaRPr lang="en-US" sz="1125" dirty="0"/>
          </a:p>
        </p:txBody>
      </p:sp>
      <p:sp>
        <p:nvSpPr>
          <p:cNvPr id="14" name="Text 11"/>
          <p:cNvSpPr/>
          <p:nvPr/>
        </p:nvSpPr>
        <p:spPr>
          <a:xfrm>
            <a:off x="419100" y="2750493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Centralizacija </a:t>
            </a:r>
            <a:r>
              <a:rPr lang="en-US" sz="9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filtriranje</a:t>
            </a: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smanjuju vrijeme potrebno za pronalaženje smještaja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29150" y="2369493"/>
            <a:ext cx="4286250" cy="693390"/>
          </a:xfrm>
          <a:prstGeom prst="roundRect">
            <a:avLst>
              <a:gd name="adj" fmla="val 10989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4648200" y="2369493"/>
            <a:ext cx="0" cy="693390"/>
          </a:xfrm>
          <a:prstGeom prst="line">
            <a:avLst/>
          </a:prstGeom>
          <a:noFill/>
          <a:ln w="381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hr-HR"/>
          </a:p>
        </p:txBody>
      </p:sp>
      <p:sp>
        <p:nvSpPr>
          <p:cNvPr id="17" name="Text 14"/>
          <p:cNvSpPr/>
          <p:nvPr/>
        </p:nvSpPr>
        <p:spPr>
          <a:xfrm>
            <a:off x="4819650" y="2521893"/>
            <a:ext cx="40222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Povećana sigurnost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4819650" y="2708598"/>
            <a:ext cx="4022217" cy="312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Transparentnost</a:t>
            </a: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podataka</a:t>
            </a: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između</a:t>
            </a: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studenata</a:t>
            </a: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vlasnika</a:t>
            </a: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nekretnina</a:t>
            </a: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9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</a:t>
            </a: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90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sustav</a:t>
            </a:r>
            <a:r>
              <a:rPr lang="en-US" sz="9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recenzija smanjuju rizik prevara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28600" y="3177183"/>
            <a:ext cx="8686800" cy="742950"/>
          </a:xfrm>
          <a:prstGeom prst="roundRect">
            <a:avLst>
              <a:gd name="adj" fmla="val 10256"/>
            </a:avLst>
          </a:prstGeom>
          <a:solidFill>
            <a:srgbClr val="26323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16611" y="3348633"/>
            <a:ext cx="85107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AccommodationApp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je </a:t>
            </a:r>
            <a:r>
              <a:rPr lang="en-US" sz="1050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centralizirana platforma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za hrvatsko tržište studentskog smještaja koja kombinira moderne tehnologije s dubokim razumijevanjem potreba studentske populacije.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08488" y="963960"/>
            <a:ext cx="35267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600"/>
              </a:lnSpc>
              <a:spcAft>
                <a:spcPts val="1800"/>
              </a:spcAft>
              <a:buNone/>
            </a:pPr>
            <a:r>
              <a:rPr lang="en-US" sz="36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Hvala na pažnji!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437358" y="1725960"/>
            <a:ext cx="4269135" cy="1882080"/>
          </a:xfrm>
          <a:prstGeom prst="roundRect">
            <a:avLst>
              <a:gd name="adj" fmla="val 607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627839" y="1954560"/>
            <a:ext cx="388817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20"/>
              </a:lnSpc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Posebna zahvala: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627839" y="2350739"/>
            <a:ext cx="3888173" cy="1028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900"/>
              </a:spcAft>
              <a:buNone/>
            </a:pP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2627839" y="2922240"/>
            <a:ext cx="388817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2394667" y="3912840"/>
            <a:ext cx="43545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2632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Pitanja?</a:t>
            </a:r>
            <a:endParaRPr 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05C7C3-A9C2-C6BB-CC83-6144C1E0F257}"/>
              </a:ext>
            </a:extLst>
          </p:cNvPr>
          <p:cNvSpPr txBox="1"/>
          <p:nvPr/>
        </p:nvSpPr>
        <p:spPr>
          <a:xfrm>
            <a:off x="2437358" y="2384628"/>
            <a:ext cx="4311826" cy="1223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900"/>
              </a:spcAft>
            </a:pP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Mentoru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profesoru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b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Danielu </a:t>
            </a:r>
            <a:r>
              <a:rPr lang="en-US" sz="1050" b="1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Beleu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kontinuiranoj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podršci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050" dirty="0"/>
          </a:p>
          <a:p>
            <a:pPr algn="ctr">
              <a:lnSpc>
                <a:spcPts val="1800"/>
              </a:lnSpc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stručnom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vodsuvu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konstruktivnim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savjetima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svim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studentima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koji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sudjelovali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anketi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050" dirty="0"/>
          </a:p>
          <a:p>
            <a:pPr algn="ctr">
              <a:lnSpc>
                <a:spcPts val="1800"/>
              </a:lnSpc>
            </a:pP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doprinijeli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razvoju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funkcionalnosti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aplikacije</a:t>
            </a:r>
            <a:r>
              <a:rPr lang="en-US" sz="10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  <a:p>
            <a:pPr algn="ctr">
              <a:spcAft>
                <a:spcPts val="900"/>
              </a:spcAft>
            </a:pP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1135</Words>
  <Application>Microsoft Office PowerPoint</Application>
  <PresentationFormat>On-screen Show (16:9)</PresentationFormat>
  <Paragraphs>217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Razvoj programskog rješenja za organiziranje smještaja studenata</dc:title>
  <dc:subject>Završni rad - AccommodationApp</dc:subject>
  <dc:creator>Marko Kovačević</dc:creator>
  <cp:lastModifiedBy>Marko Kovačević | Student</cp:lastModifiedBy>
  <cp:revision>7</cp:revision>
  <dcterms:created xsi:type="dcterms:W3CDTF">2026-01-21T11:29:49Z</dcterms:created>
  <dcterms:modified xsi:type="dcterms:W3CDTF">2026-01-23T12:02:25Z</dcterms:modified>
</cp:coreProperties>
</file>